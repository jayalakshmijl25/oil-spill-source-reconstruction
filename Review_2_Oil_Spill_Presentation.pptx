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rm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731520"/>
            <a:ext cx="2286000" cy="952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64592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3366"/>
                </a:solidFill>
                <a:latin typeface="Arial"/>
              </a:defRPr>
            </a:pPr>
            <a:r>
              <a:t>AI-Based Adaptive Oil Spill Source Reconstruction Using Multi-Temporal Satellite Observations and Environmental Uncertainty</a:t>
            </a:r>
          </a:p>
          <a:p>
            <a:pPr algn="ctr">
              <a:spcBef>
                <a:spcPts val="1200"/>
              </a:spcBef>
              <a:defRPr sz="2000" b="1">
                <a:solidFill>
                  <a:srgbClr val="D4A017"/>
                </a:solidFill>
                <a:latin typeface="Arial"/>
              </a:defRPr>
            </a:pPr>
            <a:r>
              <a:t>Review 2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931920"/>
            <a:ext cx="43891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017"/>
                </a:solidFill>
                <a:latin typeface="Arial"/>
              </a:defRPr>
            </a:pPr>
            <a:r>
              <a:t>FACULTY GUIDE</a:t>
            </a:r>
          </a:p>
          <a:p>
            <a:pPr>
              <a:spcBef>
                <a:spcPts val="600"/>
              </a:spcBef>
              <a:defRPr sz="1500" b="1">
                <a:solidFill>
                  <a:srgbClr val="003366"/>
                </a:solidFill>
                <a:latin typeface="Arial"/>
              </a:defRPr>
            </a:pPr>
            <a:r>
              <a:t>Dr. Banu Priya Prathaban</a:t>
            </a:r>
          </a:p>
          <a:p>
            <a:pPr>
              <a:spcBef>
                <a:spcPts val="4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Department of Computer Science &amp; Engineering</a:t>
            </a:r>
            <a:br/>
            <a:r>
              <a:t>SRM Institute of Science and Technology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931920"/>
            <a:ext cx="43891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017"/>
                </a:solidFill>
                <a:latin typeface="Arial"/>
              </a:defRPr>
            </a:pPr>
            <a:r>
              <a:t>TEAM MEMBERS (NAMES &amp; REG NOS)</a:t>
            </a:r>
          </a:p>
          <a:p>
            <a:pPr>
              <a:spcBef>
                <a:spcPts val="200"/>
              </a:spcBef>
              <a:defRPr sz="1050">
                <a:solidFill>
                  <a:srgbClr val="282828"/>
                </a:solidFill>
                <a:latin typeface="Arial"/>
              </a:defRPr>
            </a:pPr>
            <a:r>
              <a:t>• Jayalakshmi T  (RA2411031010115)  —  Proposed Model Dev</a:t>
            </a:r>
          </a:p>
          <a:p>
            <a:pPr>
              <a:spcBef>
                <a:spcPts val="200"/>
              </a:spcBef>
              <a:defRPr sz="1050">
                <a:solidFill>
                  <a:srgbClr val="282828"/>
                </a:solidFill>
                <a:latin typeface="Arial"/>
              </a:defRPr>
            </a:pPr>
            <a:r>
              <a:t>• Sachin P  (RA2411031010117)  —  Data Engineering</a:t>
            </a:r>
          </a:p>
          <a:p>
            <a:pPr>
              <a:spcBef>
                <a:spcPts val="200"/>
              </a:spcBef>
              <a:defRPr sz="1050">
                <a:solidFill>
                  <a:srgbClr val="282828"/>
                </a:solidFill>
                <a:latin typeface="Arial"/>
              </a:defRPr>
            </a:pPr>
            <a:r>
              <a:t>• Shivaani M  (RA2411031010119)  —  Comparative Analysis</a:t>
            </a:r>
          </a:p>
          <a:p>
            <a:pPr>
              <a:spcBef>
                <a:spcPts val="200"/>
              </a:spcBef>
              <a:defRPr sz="1050">
                <a:solidFill>
                  <a:srgbClr val="282828"/>
                </a:solidFill>
                <a:latin typeface="Arial"/>
              </a:defRPr>
            </a:pPr>
            <a:r>
              <a:t>• Varsha U  (RA2411031010120)  —  Visualization &amp;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017"/>
                </a:solidFill>
                <a:latin typeface="Arial"/>
              </a:defRPr>
            </a:pPr>
            <a:r>
              <a:t>REVIEW 2 PRESENTATION STRUCTURE</a:t>
            </a:r>
          </a:p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Contents / Agenda</a:t>
            </a:r>
          </a:p>
        </p:txBody>
      </p:sp>
      <p:pic>
        <p:nvPicPr>
          <p:cNvPr id="3" name="Picture 2" descr="srm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20040"/>
            <a:ext cx="1645920" cy="685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150" b="0">
                <a:solidFill>
                  <a:srgbClr val="282828"/>
                </a:solidFill>
                <a:latin typeface="Arial"/>
              </a:defRPr>
            </a:pPr>
            <a:r>
              <a:t>1. Dataset (Synthetic v4 Big Data &amp; Sanchi Real Disaster Archives)</a:t>
            </a:r>
          </a:p>
          <a:p>
            <a:pPr>
              <a:spcBef>
                <a:spcPts val="1200"/>
              </a:spcBef>
              <a:defRPr sz="1150" b="1">
                <a:solidFill>
                  <a:srgbClr val="003366"/>
                </a:solidFill>
                <a:latin typeface="Arial"/>
              </a:defRPr>
            </a:pPr>
            <a:r>
              <a:t>2. Proposed Model (Adaptive Spatial-Temporal ConvLSTM with Attention)</a:t>
            </a:r>
          </a:p>
          <a:p>
            <a:pPr>
              <a:spcBef>
                <a:spcPts val="1200"/>
              </a:spcBef>
              <a:defRPr sz="1150" b="1">
                <a:solidFill>
                  <a:srgbClr val="003366"/>
                </a:solidFill>
                <a:latin typeface="Arial"/>
              </a:defRPr>
            </a:pPr>
            <a:r>
              <a:t>3. Overall System Architecture Diagram (Layer 1 to Layer 5 Workflow)</a:t>
            </a:r>
          </a:p>
          <a:p>
            <a:pPr>
              <a:spcBef>
                <a:spcPts val="1200"/>
              </a:spcBef>
              <a:defRPr sz="1150" b="0">
                <a:solidFill>
                  <a:srgbClr val="282828"/>
                </a:solidFill>
                <a:latin typeface="Arial"/>
              </a:defRPr>
            </a:pPr>
            <a:r>
              <a:t>4. Preprocessing: Big Data Analysis &amp; Pipeline Steps</a:t>
            </a:r>
          </a:p>
          <a:p>
            <a:pPr>
              <a:spcBef>
                <a:spcPts val="1200"/>
              </a:spcBef>
              <a:defRPr sz="1150" b="1">
                <a:solidFill>
                  <a:srgbClr val="003366"/>
                </a:solidFill>
                <a:latin typeface="Arial"/>
              </a:defRPr>
            </a:pPr>
            <a:r>
              <a:t>5. Results of Preprocessing (Inserted Quantitative Table &amp; Visual Dashboard)</a:t>
            </a:r>
          </a:p>
          <a:p>
            <a:pPr>
              <a:spcBef>
                <a:spcPts val="1200"/>
              </a:spcBef>
              <a:defRPr sz="1150" b="0">
                <a:solidFill>
                  <a:srgbClr val="282828"/>
                </a:solidFill>
                <a:latin typeface="Arial"/>
              </a:defRPr>
            </a:pPr>
            <a:r>
              <a:t>6. Classification: Novel Proposed Classifier (AST-CLAM Architecture)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2120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150" b="0">
                <a:solidFill>
                  <a:srgbClr val="282828"/>
                </a:solidFill>
                <a:latin typeface="Arial"/>
              </a:defRPr>
            </a:pPr>
            <a:r>
              <a:t>7. Results of Classification Using Proposed Model (Accuracy, F1, RMSE)</a:t>
            </a:r>
          </a:p>
          <a:p>
            <a:pPr>
              <a:spcBef>
                <a:spcPts val="1200"/>
              </a:spcBef>
              <a:defRPr sz="1150" b="1">
                <a:solidFill>
                  <a:srgbClr val="003366"/>
                </a:solidFill>
                <a:latin typeface="Arial"/>
              </a:defRPr>
            </a:pPr>
            <a:r>
              <a:t>8. Comparison with Existing Classifier Models (RF, XGB, MLP, ConvLSTM, U-Net)</a:t>
            </a:r>
          </a:p>
          <a:p>
            <a:pPr>
              <a:spcBef>
                <a:spcPts val="1200"/>
              </a:spcBef>
              <a:defRPr sz="1150" b="1">
                <a:solidFill>
                  <a:srgbClr val="003366"/>
                </a:solidFill>
                <a:latin typeface="Arial"/>
              </a:defRPr>
            </a:pPr>
            <a:r>
              <a:t>9. Plan of Action / Member Tasks Breakdown</a:t>
            </a:r>
          </a:p>
          <a:p>
            <a:pPr>
              <a:spcBef>
                <a:spcPts val="1200"/>
              </a:spcBef>
              <a:defRPr sz="1150" b="0">
                <a:solidFill>
                  <a:srgbClr val="282828"/>
                </a:solidFill>
                <a:latin typeface="Arial"/>
              </a:defRPr>
            </a:pPr>
            <a:r>
              <a:t>10. References (Key High-Impact Literature Citations)</a:t>
            </a:r>
          </a:p>
          <a:p>
            <a:pPr>
              <a:spcBef>
                <a:spcPts val="1200"/>
              </a:spcBef>
              <a:defRPr sz="1150" b="1">
                <a:solidFill>
                  <a:srgbClr val="003366"/>
                </a:solidFill>
                <a:latin typeface="Arial"/>
              </a:defRPr>
            </a:pPr>
            <a:r>
              <a:t>11. Attach Geotagged Photo Taken During Review 2 Presentation</a:t>
            </a:r>
          </a:p>
          <a:p>
            <a:pPr>
              <a:spcBef>
                <a:spcPts val="1200"/>
              </a:spcBef>
              <a:defRPr sz="1150" b="0">
                <a:solidFill>
                  <a:srgbClr val="282828"/>
                </a:solidFill>
                <a:latin typeface="Arial"/>
              </a:defRPr>
            </a:pPr>
            <a:r>
              <a:t>12. Attach Google Colab Implementation Link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017"/>
                </a:solidFill>
                <a:latin typeface="Arial"/>
              </a:defRPr>
            </a:pPr>
            <a:r>
              <a:t>DATA ENGINEERING</a:t>
            </a:r>
          </a:p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1. Dataset Specifications &amp; Big Data Inventory</a:t>
            </a:r>
          </a:p>
        </p:txBody>
      </p:sp>
      <p:pic>
        <p:nvPicPr>
          <p:cNvPr id="3" name="Picture 2" descr="srm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20040"/>
            <a:ext cx="1645920" cy="685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3366"/>
                </a:solidFill>
                <a:latin typeface="Arial"/>
              </a:defRPr>
            </a:pPr>
            <a:r>
              <a:t>Comprehensive Big Data Table (v4 Full)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  <a:latin typeface="Arial"/>
              </a:defRPr>
            </a:pPr>
            <a:r>
              <a:t>• 60,539,017 candidate grid rows across 5 whole-spill folds.</a:t>
            </a:r>
            <a:br/>
            <a:r>
              <a:t>• Stored in Apache Parquet (115 partitions, 2.39 GB on disk).</a:t>
            </a:r>
            <a:br/>
            <a:r>
              <a:t>• 1,000 synthetic spills under realistic 2018 East China Sea conditions.</a:t>
            </a:r>
            <a:br/>
            <a:r>
              <a:t>• Positive class ratio: 0.77% (cell &lt;= 10 km and release &lt;= 3 h).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3366"/>
                </a:solidFill>
                <a:latin typeface="Arial"/>
              </a:defRPr>
            </a:pPr>
            <a:r>
              <a:t>Stratified Training Table (v4 Sample)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  <a:latin typeface="Arial"/>
              </a:defRPr>
            </a:pPr>
            <a:r>
              <a:t>• 3,467,398 rows across 645 partitions (238.2 MB).</a:t>
            </a:r>
            <a:br/>
            <a:r>
              <a:t>• Retains 100% true positives + exactly 5% hash-sampled negatives.</a:t>
            </a:r>
            <a:br/>
            <a:r>
              <a:t>• Balanced sample weights (w_sample_weight) correct for negative sampling.</a:t>
            </a:r>
            <a:br/>
            <a:r>
              <a:t>• Partitions strictly split train/test by id_fold (zero spill leakage).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3366"/>
                </a:solidFill>
                <a:latin typeface="Arial"/>
              </a:defRPr>
            </a:pPr>
            <a:r>
              <a:t>Real-World Sanchi Disaster Event Archive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  <a:latin typeface="Arial"/>
              </a:defRPr>
            </a:pPr>
            <a:r>
              <a:t>• 20,951 candidate cells from Sentinel-1 SAR and VIIRS observations.</a:t>
            </a:r>
            <a:br/>
            <a:r>
              <a:t>• 632 audited tanker drift timestamps with AIS velocity alignment.</a:t>
            </a:r>
            <a:br/>
            <a:r>
              <a:t>• Benchmarked against verified wreck location at 115 m depth (28.375°N, 125.942°E).</a:t>
            </a:r>
            <a:br/>
            <a:r>
              <a:t>• 2 distinct satellite slicks captured on 18 Jan 2018.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3366"/>
                </a:solidFill>
                <a:latin typeface="Arial"/>
              </a:defRPr>
            </a:pPr>
            <a:r>
              <a:t>Multi-Source Environmental Reanalysis Forcing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  <a:latin typeface="Arial"/>
              </a:defRPr>
            </a:pPr>
            <a:r>
              <a:t>• ERA5 Atmospheric Reanalysis: Hourly 10m wind fields (u10, v10) at 0.25°.</a:t>
            </a:r>
            <a:br/>
            <a:r>
              <a:t>• CMEMS Physical Ocean Reanalysis: Surface current velocities (u, v) at 0.083°.</a:t>
            </a:r>
            <a:br/>
            <a:r>
              <a:t>• Stokes drift wave radiation stress and windage coefficient (3%).</a:t>
            </a:r>
            <a:br/>
            <a:r>
              <a:t>• Dynamic hourly forcing uncertainty wandering around drawn mean.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017"/>
                </a:solidFill>
                <a:latin typeface="Arial"/>
              </a:defRPr>
            </a:pPr>
            <a:r>
              <a:t>NOVEL DEEP LEARNING ARCHITECTURE</a:t>
            </a:r>
          </a:p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2. Proposed Novel Deep Learning Model (AST-CLAM)</a:t>
            </a:r>
          </a:p>
        </p:txBody>
      </p:sp>
      <p:pic>
        <p:nvPicPr>
          <p:cNvPr id="3" name="Picture 2" descr="srm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20040"/>
            <a:ext cx="1645920" cy="685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5912" cy="10058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AST-CLAM: Adaptive Spatial-Temporal Convolutional LSTM with Attention Mechanisms</a:t>
            </a:r>
          </a:p>
          <a:p>
            <a:pPr>
              <a:spcBef>
                <a:spcPts val="400"/>
              </a:spcBef>
              <a:defRPr sz="1100">
                <a:solidFill>
                  <a:srgbClr val="DCE6F2"/>
                </a:solidFill>
                <a:latin typeface="Arial"/>
              </a:defRPr>
            </a:pPr>
            <a:r>
              <a:t>A physics-informed deep learning architecture designed to overcome environmental forcing divergence in satellite oil spill source reconstruction.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3410712" cy="3749039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03366"/>
                </a:solidFill>
                <a:latin typeface="Arial"/>
              </a:defRPr>
            </a:pPr>
            <a:r>
              <a:t>1. Tri-Branch Dynamic Decoupling</a:t>
            </a:r>
          </a:p>
          <a:p>
            <a:pPr>
              <a:spcBef>
                <a:spcPts val="800"/>
              </a:spcBef>
              <a:defRPr sz="1000">
                <a:solidFill>
                  <a:srgbClr val="282828"/>
                </a:solidFill>
                <a:latin typeface="Arial"/>
              </a:defRPr>
            </a:pPr>
            <a:r>
              <a:t>• Spatial Branch (14 dims): Encodes slick polygon centroid, particle dispersion radius, and cluster spread.</a:t>
            </a:r>
            <a:br/>
            <a:r>
              <a:t>• Environmental Branch (10 dims): Embeds ERA5 wind vectors, CMEMS currents, and 3% windage advection.</a:t>
            </a:r>
            <a:br/>
            <a:r>
              <a:t>• Drift Mismatch Branch (5 dims): Explicitly isolates advective trajectory divergence vectors (f_drift_err).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651760"/>
            <a:ext cx="3410712" cy="3749039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03366"/>
                </a:solidFill>
                <a:latin typeface="Arial"/>
              </a:defRPr>
            </a:pPr>
            <a:r>
              <a:t>2. Adaptive Uncertainty Attention (AEU-Attn)</a:t>
            </a:r>
          </a:p>
          <a:p>
            <a:pPr>
              <a:spcBef>
                <a:spcPts val="800"/>
              </a:spcBef>
              <a:defRPr sz="1000">
                <a:solidFill>
                  <a:srgbClr val="282828"/>
                </a:solidFill>
                <a:latin typeface="Arial"/>
              </a:defRPr>
            </a:pPr>
            <a:r>
              <a:t>• Calculates dynamic cross-attention between spatial candidate states (Q) and environmental forcing uncertainty (K, V).</a:t>
            </a:r>
            <a:br/>
            <a:r>
              <a:t>• When drift mismatch indicates high sea-state turbulence, the attention gate downweights noisy advection.</a:t>
            </a:r>
            <a:br/>
            <a:r>
              <a:t>• Amplifies multi-snapshot consensus to preserve trajectory integrity.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651760"/>
            <a:ext cx="3410712" cy="3749039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03366"/>
                </a:solidFill>
                <a:latin typeface="Arial"/>
              </a:defRPr>
            </a:pPr>
            <a:r>
              <a:t>3. Dual-Task Multi-Objective Heads</a:t>
            </a:r>
          </a:p>
          <a:p>
            <a:pPr>
              <a:spcBef>
                <a:spcPts val="800"/>
              </a:spcBef>
              <a:defRPr sz="1000">
                <a:solidFill>
                  <a:srgbClr val="282828"/>
                </a:solidFill>
                <a:latin typeface="Arial"/>
              </a:defRPr>
            </a:pPr>
            <a:r>
              <a:t>• Classification Head: Outputs source probability P(y_is_source=1) optimized via Focal Cross-Entropy Loss (alpha=0.75, gamma=2.0).</a:t>
            </a:r>
            <a:br/>
            <a:r>
              <a:t>• Centroid Offset Regression Head: Predicts continuous Euclidean distance offset (km) trained with Smooth L1 Huber Loss.</a:t>
            </a:r>
            <a:br/>
            <a:r>
              <a:t>• Ensures latent space is physically consistent with spatial coordinates.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017"/>
                </a:solidFill>
                <a:latin typeface="Arial"/>
              </a:defRPr>
            </a:pPr>
            <a:r>
              <a:t>SYSTEM ENGINEERING WORKFLOW</a:t>
            </a:r>
          </a:p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3. Overall System Architecture &amp; Data Pipeline</a:t>
            </a:r>
          </a:p>
        </p:txBody>
      </p:sp>
      <p:pic>
        <p:nvPicPr>
          <p:cNvPr id="3" name="Picture 2" descr="srm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20040"/>
            <a:ext cx="1645920" cy="685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96596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3366"/>
                </a:solidFill>
                <a:latin typeface="Arial"/>
              </a:defRPr>
            </a:pPr>
            <a:r>
              <a:t>Layer 1: Ingestion</a:t>
            </a:r>
          </a:p>
          <a:p>
            <a:pPr algn="ctr">
              <a:spcBef>
                <a:spcPts val="1600"/>
              </a:spcBef>
              <a:defRPr sz="1050">
                <a:solidFill>
                  <a:srgbClr val="282828"/>
                </a:solidFill>
                <a:latin typeface="Arial"/>
              </a:defRPr>
            </a:pPr>
            <a:r>
              <a:t>Sentinel-1 SAR Slicks</a:t>
            </a:r>
            <a:br/>
            <a:r>
              <a:t>ERA5 Wind (u10, v10)</a:t>
            </a:r>
            <a:br/>
            <a:r>
              <a:t>CMEMS Ocean Currents</a:t>
            </a:r>
            <a:br/>
            <a:r>
              <a:t>Sanchi Audited AIS Tracks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645920"/>
            <a:ext cx="196596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3366"/>
                </a:solidFill>
                <a:latin typeface="Arial"/>
              </a:defRPr>
            </a:pPr>
            <a:r>
              <a:t>Layer 2: Big Data Preproc</a:t>
            </a:r>
          </a:p>
          <a:p>
            <a:pPr algn="ctr">
              <a:spcBef>
                <a:spcPts val="1600"/>
              </a:spcBef>
              <a:defRPr sz="1050">
                <a:solidFill>
                  <a:srgbClr val="282828"/>
                </a:solidFill>
                <a:latin typeface="Arial"/>
              </a:defRPr>
            </a:pPr>
            <a:r>
              <a:t>PyArrow Distributed Engine</a:t>
            </a:r>
            <a:br/>
            <a:r>
              <a:t>Noise Cleaning &amp; Scaling</a:t>
            </a:r>
            <a:br/>
            <a:r>
              <a:t>Physical Grid Imputation</a:t>
            </a:r>
            <a:br/>
            <a:r>
              <a:t>Adaptive Thresholding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645920"/>
            <a:ext cx="196596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3366"/>
                </a:solidFill>
                <a:latin typeface="Arial"/>
              </a:defRPr>
            </a:pPr>
            <a:r>
              <a:t>Layer 3: Tri-Branch Fusion</a:t>
            </a:r>
          </a:p>
          <a:p>
            <a:pPr algn="ctr">
              <a:spcBef>
                <a:spcPts val="1600"/>
              </a:spcBef>
              <a:defRPr sz="1050">
                <a:solidFill>
                  <a:srgbClr val="282828"/>
                </a:solidFill>
                <a:latin typeface="Arial"/>
              </a:defRPr>
            </a:pPr>
            <a:r>
              <a:t>Spatial Geometry (14 dims)</a:t>
            </a:r>
            <a:br/>
            <a:r>
              <a:t>Hydrodynamic Field (10 dims)</a:t>
            </a:r>
            <a:br/>
            <a:r>
              <a:t>Drift Mismatches (5 dims)</a:t>
            </a:r>
            <a:br/>
            <a:r>
              <a:t>Concatenation &amp; Norm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645920"/>
            <a:ext cx="196596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3366"/>
                </a:solidFill>
                <a:latin typeface="Arial"/>
              </a:defRPr>
            </a:pPr>
            <a:r>
              <a:t>Layer 4: AST-CLAM Core</a:t>
            </a:r>
          </a:p>
          <a:p>
            <a:pPr algn="ctr">
              <a:spcBef>
                <a:spcPts val="1600"/>
              </a:spcBef>
              <a:defRPr sz="1050">
                <a:solidFill>
                  <a:srgbClr val="282828"/>
                </a:solidFill>
                <a:latin typeface="Arial"/>
              </a:defRPr>
            </a:pPr>
            <a:r>
              <a:t>Spatio-Temporal Conv1D</a:t>
            </a:r>
            <a:br/>
            <a:r>
              <a:t>Bidirectional LSTM Core</a:t>
            </a:r>
            <a:br/>
            <a:r>
              <a:t>AEU-Attn Uncertainty Gating</a:t>
            </a:r>
            <a:br/>
            <a:r>
              <a:t>Dual Classification/Offset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645920"/>
            <a:ext cx="196596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3366"/>
                </a:solidFill>
                <a:latin typeface="Arial"/>
              </a:defRPr>
            </a:pPr>
            <a:r>
              <a:t>Layer 5: Decision Output</a:t>
            </a:r>
          </a:p>
          <a:p>
            <a:pPr algn="ctr">
              <a:spcBef>
                <a:spcPts val="1600"/>
              </a:spcBef>
              <a:defRPr sz="1050">
                <a:solidFill>
                  <a:srgbClr val="282828"/>
                </a:solidFill>
                <a:latin typeface="Arial"/>
              </a:defRPr>
            </a:pPr>
            <a:r>
              <a:t>Calibrated Source Map</a:t>
            </a:r>
            <a:br/>
            <a:r>
              <a:t>Sub-10km Centroid RMSE</a:t>
            </a:r>
            <a:br/>
            <a:r>
              <a:t>Origin Localization Hit</a:t>
            </a:r>
            <a:br/>
            <a:r>
              <a:t>Real Wreck Recovery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017"/>
                </a:solidFill>
                <a:latin typeface="Arial"/>
              </a:defRPr>
            </a:pPr>
            <a:r>
              <a:t>DATA ENGINEERING</a:t>
            </a:r>
          </a:p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4. Preprocessing: Big Data Analysis &amp; Pipeline Steps</a:t>
            </a:r>
          </a:p>
        </p:txBody>
      </p:sp>
      <p:pic>
        <p:nvPicPr>
          <p:cNvPr id="3" name="Picture 2" descr="srm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20040"/>
            <a:ext cx="1645920" cy="685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5912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3366"/>
                </a:solidFill>
                <a:latin typeface="Arial"/>
              </a:defRPr>
            </a:pPr>
            <a:r>
              <a:t>Step 1: Partitioned Big Data Extraction &amp; Profiling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  <a:latin typeface="Arial"/>
              </a:defRPr>
            </a:pPr>
            <a:r>
              <a:t>• Scanned and profiled full dataset archives (60.5M records) and representative sample folds.</a:t>
            </a:r>
            <a:br/>
            <a:r>
              <a:t>• Utilized Apache PyArrow Parquet engine to read Hive-partitioned files (Fold 0: 659,295 cells in 0.65s).</a:t>
            </a:r>
            <a:br/>
            <a:r>
              <a:t>• Enforced strict whole-spill partitioning by id_fold (0..4) to guarantee zero data leakage.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10725912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3366"/>
                </a:solidFill>
                <a:latin typeface="Arial"/>
              </a:defRPr>
            </a:pPr>
            <a:r>
              <a:t>Step 2: Systematic Noise Cleaning &amp; Outlier Suppression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  <a:latin typeface="Arial"/>
              </a:defRPr>
            </a:pPr>
            <a:r>
              <a:t>• Identified physical anomalies and corrupted boundary values across spatial-temporal grid coordinates.</a:t>
            </a:r>
            <a:br/>
            <a:r>
              <a:t>• Handled drift ratio singularities (division by near-zero displacement) clipped to nominal [0.0, 10.0].</a:t>
            </a:r>
            <a:br/>
            <a:r>
              <a:t>• Synchronized UTC time stamps across satellite observation frames and hourly ERA5 reanalysis.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725912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3366"/>
                </a:solidFill>
                <a:latin typeface="Arial"/>
              </a:defRPr>
            </a:pPr>
            <a:r>
              <a:t>Step 3: Physical Grid Parameter Imputation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  <a:latin typeface="Arial"/>
              </a:defRPr>
            </a:pPr>
            <a:r>
              <a:t>• f_rank_in_hour (120,466 nulls): Missing when snapshot k has 0 particles in that grid cell. Physically imputed with 999.0 (unranked / zero-priority candidate).</a:t>
            </a:r>
            <a:br/>
            <a:r>
              <a:t>• f_drift_err (132,577 nulls): Missing for k=1 (single snapshot). Imputed with neutral baseline (0.0 km east/north mismatch, 1.0 nominal ratio).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66360"/>
            <a:ext cx="10725912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3366"/>
                </a:solidFill>
                <a:latin typeface="Arial"/>
              </a:defRPr>
            </a:pPr>
            <a:r>
              <a:t>Step 4: Adaptive Spatial-Temporal Thresholding &amp; Feature Engineering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  <a:latin typeface="Arial"/>
              </a:defRPr>
            </a:pPr>
            <a:r>
              <a:t>• Engineered 5 hydrodynamic interaction features: total forcing velocity, multi-snapshot consensus ratio, wind alignment.</a:t>
            </a:r>
            <a:br/>
            <a:r>
              <a:t>• Implemented dynamic quantile adaptive thresholding (80th percentile) combining particle share with Euclidean proximity, filtering 80% empty ocean background.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017"/>
                </a:solidFill>
                <a:latin typeface="Arial"/>
              </a:defRPr>
            </a:pPr>
            <a:r>
              <a:t>DATA ENGINEERING</a:t>
            </a:r>
          </a:p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5. Results of Preprocessing: Quantitative Metrics Table</a:t>
            </a:r>
          </a:p>
        </p:txBody>
      </p:sp>
      <p:pic>
        <p:nvPicPr>
          <p:cNvPr id="3" name="Picture 2" descr="srm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20040"/>
            <a:ext cx="1645920" cy="685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591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  <a:gridCol w="4325112"/>
              </a:tblGrid>
              <a:tr h="43226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Preprocessing Parameter / Metric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Operational / Physical Interpretation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Total Processed Records (Fold 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659,295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Hive-partitioned Parquet (200 Spills)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Ground Truth Source Positives (y=1)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91,561 (13.89%)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Cell &lt;= 10 km from source, release &lt;= 3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Candidate Negatives (y=0)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567,734 (86.11%)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Background ocean grid cells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Missing Grid Parameters Handled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518,197 cells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100% resolved without synthetic data drop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Missing f_rank_in_hour Imputed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120,466 cells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Physical rank 999.0 (Unranked cell)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Missing k=1 Drift Mismatch Imputed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132,577 cells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0.0 km east/north, 1.0 nominal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Engineered Interaction Features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5 Features Added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Windage speed, consensus ratio, alignment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Adaptive Segmentation Threshold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0.1448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80th percentile dynamic confidence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Segmented High-Potential Cells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131,859 cells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Candidate region for deep learning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227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End-to-End Preprocessing Runtime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1.48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High-throughput PyArrow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017"/>
                </a:solidFill>
                <a:latin typeface="Arial"/>
              </a:defRPr>
            </a:pPr>
            <a:r>
              <a:t>DATA ENGINEERING</a:t>
            </a:r>
          </a:p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5. Results of Preprocessing: Visual Analytics Dashboard</a:t>
            </a:r>
          </a:p>
        </p:txBody>
      </p:sp>
      <p:pic>
        <p:nvPicPr>
          <p:cNvPr id="3" name="Picture 2" descr="srm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20040"/>
            <a:ext cx="1645920" cy="685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eprocessing_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7772400" cy="623299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371600"/>
            <a:ext cx="274320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3366"/>
                </a:solidFill>
                <a:latin typeface="Arial"/>
              </a:defRPr>
            </a:pPr>
            <a:r>
              <a:t>Dashboard Insights:</a:t>
            </a:r>
          </a:p>
          <a:p>
            <a:pPr>
              <a:spcBef>
                <a:spcPts val="800"/>
              </a:spcBef>
              <a:defRPr sz="950">
                <a:solidFill>
                  <a:srgbClr val="282828"/>
                </a:solidFill>
                <a:latin typeface="Arial"/>
              </a:defRPr>
            </a:pPr>
            <a:r>
              <a:t>Panel (A): Shows 100% resolution of missing rank and drift values.</a:t>
            </a:r>
          </a:p>
          <a:p>
            <a:pPr>
              <a:spcBef>
                <a:spcPts val="800"/>
              </a:spcBef>
              <a:defRPr sz="950">
                <a:solidFill>
                  <a:srgbClr val="282828"/>
                </a:solidFill>
                <a:latin typeface="Arial"/>
              </a:defRPr>
            </a:pPr>
            <a:r>
              <a:t>Panel (B): ERA5 wind speed (mean ~6.8 m/s) and CMEMS current speed (mean ~0.22 m/s) distributions.</a:t>
            </a:r>
          </a:p>
          <a:p>
            <a:pPr>
              <a:spcBef>
                <a:spcPts val="800"/>
              </a:spcBef>
              <a:defRPr sz="950">
                <a:solidFill>
                  <a:srgbClr val="282828"/>
                </a:solidFill>
                <a:latin typeface="Arial"/>
              </a:defRPr>
            </a:pPr>
            <a:r>
              <a:t>Panel (C): Clear bimodal separation of particle consensus between true source and background.</a:t>
            </a:r>
          </a:p>
          <a:p>
            <a:pPr>
              <a:spcBef>
                <a:spcPts val="800"/>
              </a:spcBef>
              <a:defRPr sz="950">
                <a:solidFill>
                  <a:srgbClr val="282828"/>
                </a:solidFill>
                <a:latin typeface="Arial"/>
              </a:defRPr>
            </a:pPr>
            <a:r>
              <a:t>Panel (D): Dispersion across ensemble levels confirms 10km source radius bounding.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017"/>
                </a:solidFill>
                <a:latin typeface="Arial"/>
              </a:defRPr>
            </a:pPr>
            <a:r>
              <a:t>NOVEL DEEP LEARNING ARCHITECTURE</a:t>
            </a:r>
          </a:p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6. Classification: Novel Proposed Classifier (AST-CLAM)</a:t>
            </a:r>
          </a:p>
        </p:txBody>
      </p:sp>
      <p:pic>
        <p:nvPicPr>
          <p:cNvPr id="3" name="Picture 2" descr="srm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20040"/>
            <a:ext cx="1645920" cy="685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3366"/>
                </a:solidFill>
                <a:latin typeface="Arial"/>
              </a:defRPr>
            </a:pPr>
            <a:r>
              <a:t>Feature Input Formulation (29 Dimensions)</a:t>
            </a:r>
          </a:p>
          <a:p>
            <a:pPr>
              <a:spcBef>
                <a:spcPts val="400"/>
              </a:spcBef>
              <a:defRPr sz="950">
                <a:solidFill>
                  <a:srgbClr val="282828"/>
                </a:solidFill>
                <a:latin typeface="Arial"/>
              </a:defRPr>
            </a:pPr>
            <a:r>
              <a:t>• Spatial Geometry (14 features): f_dist_slick_km, f_dist_cloud_km, f_share_mean_1k, f_cloud_spread_km, etc.</a:t>
            </a:r>
            <a:br/>
            <a:r>
              <a:t>• Hydrodynamic Forcing (10 features): f_wind_speed_ms, f_current_speed_ms, fe_total_forcing_speed, fe_wind_alignment.</a:t>
            </a:r>
            <a:br/>
            <a:r>
              <a:t>• Drift Residuals (5 features): f_drift_err_east_km, f_drift_err_north_km, f_drift_ratio, fe_has_drift_vector.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3366"/>
                </a:solidFill>
                <a:latin typeface="Arial"/>
              </a:defRPr>
            </a:pPr>
            <a:r>
              <a:t>Spatio-Temporal Sequence Modeling</a:t>
            </a:r>
          </a:p>
          <a:p>
            <a:pPr>
              <a:spcBef>
                <a:spcPts val="400"/>
              </a:spcBef>
              <a:defRPr sz="950">
                <a:solidFill>
                  <a:srgbClr val="282828"/>
                </a:solidFill>
                <a:latin typeface="Arial"/>
              </a:defRPr>
            </a:pPr>
            <a:r>
              <a:t>• Spatio-Temporal Conv1D: Multi-channel 1D convolutions extract local candidate cell interactions.</a:t>
            </a:r>
            <a:br/>
            <a:r>
              <a:t>• Bidirectional Temporal LSTM: 2-layer BiLSTM captures retrograde temporal sequence dynamics (t = 0 to -120 h).</a:t>
            </a:r>
            <a:br/>
            <a:r>
              <a:t>• Models physical trajectory momentum and non-linear advective transport.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3366"/>
                </a:solidFill>
                <a:latin typeface="Arial"/>
              </a:defRPr>
            </a:pPr>
            <a:r>
              <a:t>Adaptive Environmental Uncertainty Attention (AEU-Attn)</a:t>
            </a:r>
          </a:p>
          <a:p>
            <a:pPr>
              <a:spcBef>
                <a:spcPts val="400"/>
              </a:spcBef>
              <a:defRPr sz="950">
                <a:solidFill>
                  <a:srgbClr val="282828"/>
                </a:solidFill>
                <a:latin typeface="Arial"/>
              </a:defRPr>
            </a:pPr>
            <a:r>
              <a:t>• Query (Q): Spatio-temporal candidate trajectory hidden state.</a:t>
            </a:r>
            <a:br/>
            <a:r>
              <a:t>• Key (K) &amp; Value (V): Dynamic environmental forcing vectors &amp; drift error residuals.</a:t>
            </a:r>
            <a:br/>
            <a:r>
              <a:t>• Formula: Context = Softmax(Q K^T / sqrt(d_k)) * V * UncertaintyGate(env_context).</a:t>
            </a:r>
            <a:br/>
            <a:r>
              <a:t>• Attenuates erroneous drift trajectories under turbulent sea states; amplifies multi-snapshot consensus.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3366"/>
                </a:solidFill>
                <a:latin typeface="Arial"/>
              </a:defRPr>
            </a:pPr>
            <a:r>
              <a:t>Dual-Task Optimization Objective</a:t>
            </a:r>
          </a:p>
          <a:p>
            <a:pPr>
              <a:spcBef>
                <a:spcPts val="400"/>
              </a:spcBef>
              <a:defRPr sz="950">
                <a:solidFill>
                  <a:srgbClr val="282828"/>
                </a:solidFill>
                <a:latin typeface="Arial"/>
              </a:defRPr>
            </a:pPr>
            <a:r>
              <a:t>• Total Loss = L_Focal + lambda * L_Huber</a:t>
            </a:r>
            <a:br/>
            <a:r>
              <a:t>• L_Focal = -alpha * (1 - p_t)^gamma * log(p_t)  [alpha=0.75, gamma=2.0, combats 1:100 imbalance].</a:t>
            </a:r>
            <a:br/>
            <a:r>
              <a:t>• L_Huber: Smooth L1 distance error regression on continuous source distance (km).</a:t>
            </a:r>
            <a:br/>
            <a:r>
              <a:t>• Forces latent embeddings to obey physical spatial Euclidean geometry.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017"/>
                </a:solidFill>
                <a:latin typeface="Arial"/>
              </a:defRPr>
            </a:pPr>
            <a:r>
              <a:t>EVALUATION &amp; METRIC VERIFICATION</a:t>
            </a:r>
          </a:p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7. Results of Classification: Proposed AST-CLAM Performance</a:t>
            </a:r>
          </a:p>
        </p:txBody>
      </p:sp>
      <p:pic>
        <p:nvPicPr>
          <p:cNvPr id="3" name="Picture 2" descr="srm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20040"/>
            <a:ext cx="1645920" cy="685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3366"/>
                </a:solidFill>
                <a:latin typeface="Arial"/>
              </a:defRPr>
            </a:pPr>
            <a:r>
              <a:t>ACCURACY</a:t>
            </a:r>
          </a:p>
          <a:p>
            <a:pPr>
              <a:spcBef>
                <a:spcPts val="400"/>
              </a:spcBef>
              <a:defRPr sz="3200" b="1">
                <a:solidFill>
                  <a:srgbClr val="27AE60"/>
                </a:solidFill>
                <a:latin typeface="Arial"/>
              </a:defRPr>
            </a:pPr>
            <a:r>
              <a:t>94.88%</a:t>
            </a:r>
          </a:p>
          <a:p>
            <a:pPr>
              <a:spcBef>
                <a:spcPts val="400"/>
              </a:spcBef>
              <a:defRPr sz="1000">
                <a:solidFill>
                  <a:srgbClr val="282828"/>
                </a:solidFill>
                <a:latin typeface="Arial"/>
              </a:defRPr>
            </a:pPr>
            <a:r>
              <a:t>+5.35% higher than best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3366"/>
                </a:solidFill>
                <a:latin typeface="Arial"/>
              </a:defRPr>
            </a:pPr>
            <a:r>
              <a:t>PRECISION</a:t>
            </a:r>
          </a:p>
          <a:p>
            <a:pPr>
              <a:spcBef>
                <a:spcPts val="400"/>
              </a:spcBef>
              <a:defRPr sz="3200" b="1">
                <a:solidFill>
                  <a:srgbClr val="003366"/>
                </a:solidFill>
                <a:latin typeface="Arial"/>
              </a:defRPr>
            </a:pPr>
            <a:r>
              <a:t>85.26%</a:t>
            </a:r>
          </a:p>
          <a:p>
            <a:pPr>
              <a:spcBef>
                <a:spcPts val="400"/>
              </a:spcBef>
              <a:defRPr sz="1000">
                <a:solidFill>
                  <a:srgbClr val="282828"/>
                </a:solidFill>
                <a:latin typeface="Arial"/>
              </a:defRPr>
            </a:pPr>
            <a:r>
              <a:t>Low false alarm candidate 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463040"/>
            <a:ext cx="34747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3366"/>
                </a:solidFill>
                <a:latin typeface="Arial"/>
              </a:defRPr>
            </a:pPr>
            <a:r>
              <a:t>RECALL</a:t>
            </a:r>
          </a:p>
          <a:p>
            <a:pPr>
              <a:spcBef>
                <a:spcPts val="400"/>
              </a:spcBef>
              <a:defRPr sz="3200" b="1">
                <a:solidFill>
                  <a:srgbClr val="003366"/>
                </a:solidFill>
                <a:latin typeface="Arial"/>
              </a:defRPr>
            </a:pPr>
            <a:r>
              <a:t>64.53%</a:t>
            </a:r>
          </a:p>
          <a:p>
            <a:pPr>
              <a:spcBef>
                <a:spcPts val="400"/>
              </a:spcBef>
              <a:defRPr sz="1000">
                <a:solidFill>
                  <a:srgbClr val="282828"/>
                </a:solidFill>
                <a:latin typeface="Arial"/>
              </a:defRPr>
            </a:pPr>
            <a:r>
              <a:t>Captures true source cells reliably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34747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3366"/>
                </a:solidFill>
                <a:latin typeface="Arial"/>
              </a:defRPr>
            </a:pPr>
            <a:r>
              <a:t>F1-SCORE</a:t>
            </a:r>
          </a:p>
          <a:p>
            <a:pPr>
              <a:spcBef>
                <a:spcPts val="400"/>
              </a:spcBef>
              <a:defRPr sz="3200" b="1">
                <a:solidFill>
                  <a:srgbClr val="27AE60"/>
                </a:solidFill>
                <a:latin typeface="Arial"/>
              </a:defRPr>
            </a:pPr>
            <a:r>
              <a:t>0.7346</a:t>
            </a:r>
          </a:p>
          <a:p>
            <a:pPr>
              <a:spcBef>
                <a:spcPts val="400"/>
              </a:spcBef>
              <a:defRPr sz="1000">
                <a:solidFill>
                  <a:srgbClr val="282828"/>
                </a:solidFill>
                <a:latin typeface="Arial"/>
              </a:defRPr>
            </a:pPr>
            <a:r>
              <a:t>+0.2457 higher than Random Forest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840480"/>
            <a:ext cx="34747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3366"/>
                </a:solidFill>
                <a:latin typeface="Arial"/>
              </a:defRPr>
            </a:pPr>
            <a:r>
              <a:t>AUC-ROC</a:t>
            </a:r>
          </a:p>
          <a:p>
            <a:pPr>
              <a:spcBef>
                <a:spcPts val="400"/>
              </a:spcBef>
              <a:defRPr sz="3200" b="1">
                <a:solidFill>
                  <a:srgbClr val="003366"/>
                </a:solidFill>
                <a:latin typeface="Arial"/>
              </a:defRPr>
            </a:pPr>
            <a:r>
              <a:t>0.9870</a:t>
            </a:r>
          </a:p>
          <a:p>
            <a:pPr>
              <a:spcBef>
                <a:spcPts val="400"/>
              </a:spcBef>
              <a:defRPr sz="1000">
                <a:solidFill>
                  <a:srgbClr val="282828"/>
                </a:solidFill>
                <a:latin typeface="Arial"/>
              </a:defRPr>
            </a:pPr>
            <a:r>
              <a:t>Near-perfect ranking capability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840480"/>
            <a:ext cx="34747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3366"/>
                </a:solidFill>
                <a:latin typeface="Arial"/>
              </a:defRPr>
            </a:pPr>
            <a:r>
              <a:t>CENTROID RMSE</a:t>
            </a:r>
          </a:p>
          <a:p>
            <a:pPr>
              <a:spcBef>
                <a:spcPts val="400"/>
              </a:spcBef>
              <a:defRPr sz="3200" b="1">
                <a:solidFill>
                  <a:srgbClr val="27AE60"/>
                </a:solidFill>
                <a:latin typeface="Arial"/>
              </a:defRPr>
            </a:pPr>
            <a:r>
              <a:t>6.86 km</a:t>
            </a:r>
          </a:p>
          <a:p>
            <a:pPr>
              <a:spcBef>
                <a:spcPts val="400"/>
              </a:spcBef>
              <a:defRPr sz="1000">
                <a:solidFill>
                  <a:srgbClr val="282828"/>
                </a:solidFill>
                <a:latin typeface="Arial"/>
              </a:defRPr>
            </a:pPr>
            <a:r>
              <a:t>Sub-10km operational requirement met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017"/>
                </a:solidFill>
                <a:latin typeface="Arial"/>
              </a:defRPr>
            </a:pPr>
            <a:r>
              <a:t>COMPARATIVE ANALYSIS</a:t>
            </a:r>
          </a:p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8. Benchmark Comparison with 5 Existing Classifier Models</a:t>
            </a:r>
          </a:p>
        </p:txBody>
      </p:sp>
      <p:pic>
        <p:nvPicPr>
          <p:cNvPr id="3" name="Picture 2" descr="srm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20040"/>
            <a:ext cx="1645920" cy="685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005840"/>
                <a:gridCol w="1005840"/>
                <a:gridCol w="1005840"/>
                <a:gridCol w="1005840"/>
                <a:gridCol w="1005840"/>
                <a:gridCol w="1280160"/>
                <a:gridCol w="1371600"/>
              </a:tblGrid>
              <a:tr h="5878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AUC-ROC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Centroid RMSE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Sanchi Wreck Err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Ensemble Bagging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89.53%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52.68%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45.61%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0.4889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0.8969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29.84 km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25.79 km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Gradient Boosted Trees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89.26%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52.54%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21.80%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0.3081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0.8532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33.69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33.13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Deep MLP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Feedforward DNN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88.65%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47.29%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29.54%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0.3637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0.8145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35.21 km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58.69 km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Standard ConvLSTM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Spatio-Temporal 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89.06%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50.62%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12.07%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0.1949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0.7841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30.79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50.97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Attention U-Net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Chen &amp; Wang (2022)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88.64%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43.90%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12.52%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0.1948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0.7828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29.86 km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37.48 km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Proposed AST-CLAM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Novel Adaptive Attention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7AE60"/>
                          </a:solidFill>
                          <a:latin typeface="Arial"/>
                        </a:defRPr>
                      </a:pPr>
                      <a:r>
                        <a:t>94.88%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7AE60"/>
                          </a:solidFill>
                          <a:latin typeface="Arial"/>
                        </a:defRPr>
                      </a:pPr>
                      <a:r>
                        <a:t>85.26%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7AE60"/>
                          </a:solidFill>
                          <a:latin typeface="Arial"/>
                        </a:defRPr>
                      </a:pPr>
                      <a:r>
                        <a:t>64.53%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7AE60"/>
                          </a:solidFill>
                          <a:latin typeface="Arial"/>
                        </a:defRPr>
                      </a:pPr>
                      <a:r>
                        <a:t>0.7346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7AE60"/>
                          </a:solidFill>
                          <a:latin typeface="Arial"/>
                        </a:defRPr>
                      </a:pPr>
                      <a:r>
                        <a:t>0.9870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7AE60"/>
                          </a:solidFill>
                          <a:latin typeface="Arial"/>
                        </a:defRPr>
                      </a:pPr>
                      <a:r>
                        <a:t>6.86 km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7AE60"/>
                          </a:solidFill>
                          <a:latin typeface="Arial"/>
                        </a:defRPr>
                      </a:pPr>
                      <a:r>
                        <a:t>4.62 km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76072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7AE60"/>
                </a:solidFill>
                <a:latin typeface="Arial"/>
              </a:defRPr>
            </a:pPr>
            <a:r>
              <a:t>★ Benchmark Conclusion: Proposed AST-CLAM decisively outperforms all 5 baseline models across every quantitative metric and reduces Sanchi wreck localization error from 29.10 km (naive) to 4.62 km (84.1% distance reduction).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017"/>
                </a:solidFill>
                <a:latin typeface="Arial"/>
              </a:defRPr>
            </a:pPr>
            <a:r>
              <a:t>COMPARATIVE ANALYSIS</a:t>
            </a:r>
          </a:p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8. Benchmark Comparison: Visual Evaluation Dashboard</a:t>
            </a:r>
          </a:p>
        </p:txBody>
      </p:sp>
      <p:pic>
        <p:nvPicPr>
          <p:cNvPr id="3" name="Picture 2" descr="srm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20040"/>
            <a:ext cx="1645920" cy="685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del_comparison_cha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7772400" cy="676555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371600"/>
            <a:ext cx="274320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3366"/>
                </a:solidFill>
                <a:latin typeface="Arial"/>
              </a:defRPr>
            </a:pPr>
            <a:r>
              <a:t>Visual Findings:</a:t>
            </a:r>
          </a:p>
          <a:p>
            <a:pPr>
              <a:spcBef>
                <a:spcPts val="800"/>
              </a:spcBef>
              <a:defRPr sz="950">
                <a:solidFill>
                  <a:srgbClr val="282828"/>
                </a:solidFill>
                <a:latin typeface="Arial"/>
              </a:defRPr>
            </a:pPr>
            <a:r>
              <a:t>Panel (A) ROC Curves: AST-CLAM curve dominates the top-left quadrant (AUC = 0.9870).</a:t>
            </a:r>
          </a:p>
          <a:p>
            <a:pPr>
              <a:spcBef>
                <a:spcPts val="800"/>
              </a:spcBef>
              <a:defRPr sz="950">
                <a:solidFill>
                  <a:srgbClr val="282828"/>
                </a:solidFill>
                <a:latin typeface="Arial"/>
              </a:defRPr>
            </a:pPr>
            <a:r>
              <a:t>Panel (B) PR Curves: Sustained high precision across recall levels (Average Precision = 0.812).</a:t>
            </a:r>
          </a:p>
          <a:p>
            <a:pPr>
              <a:spcBef>
                <a:spcPts val="800"/>
              </a:spcBef>
              <a:defRPr sz="950">
                <a:solidFill>
                  <a:srgbClr val="282828"/>
                </a:solidFill>
                <a:latin typeface="Arial"/>
              </a:defRPr>
            </a:pPr>
            <a:r>
              <a:t>Panel (C) Grouped Bar Chart: AST-CLAM leads across Accuracy, Precision, Recall, and F1.</a:t>
            </a:r>
          </a:p>
          <a:p>
            <a:pPr>
              <a:spcBef>
                <a:spcPts val="800"/>
              </a:spcBef>
              <a:defRPr sz="950">
                <a:solidFill>
                  <a:srgbClr val="282828"/>
                </a:solidFill>
                <a:latin typeface="Arial"/>
              </a:defRPr>
            </a:pPr>
            <a:r>
              <a:t>Panel (D) Centroid Trajectory RMSE: AST-CLAM achieves 6.86 km (red bar), well below the 10km target threshold.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017"/>
                </a:solidFill>
                <a:latin typeface="Arial"/>
              </a:defRPr>
            </a:pPr>
            <a:r>
              <a:t>PROJECT MANAGEMENT</a:t>
            </a:r>
          </a:p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9. Plan of Action &amp; Team Member Task Progress</a:t>
            </a:r>
          </a:p>
        </p:txBody>
      </p:sp>
      <p:pic>
        <p:nvPicPr>
          <p:cNvPr id="3" name="Picture 2" descr="srm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20040"/>
            <a:ext cx="1645920" cy="685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2871096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4572000"/>
                <a:gridCol w="2221992"/>
                <a:gridCol w="2145184"/>
              </a:tblGrid>
              <a:tr h="8229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Member Name &amp; Reg 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Responsibility Domain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Technical Contributions Executed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Sachin P (RA2411031010117)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Data Engineering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Big Data ingestion (60.5M rows), Parquet partitioning, missing parameter physical imputation, adaptive thresholding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7AE60"/>
                          </a:solidFill>
                          <a:latin typeface="Arial"/>
                        </a:defRPr>
                      </a:pPr>
                      <a:r>
                        <a:t>Completed (Review 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Shivaani M (RA2411031010119)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Comparative Model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Benchmark evaluation of RF, XGBoost, Deep MLP, Standard ConvLSTM, Attention U-Net against AST-CLAM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7AE60"/>
                          </a:solidFill>
                          <a:latin typeface="Arial"/>
                        </a:defRPr>
                      </a:pPr>
                      <a:r>
                        <a:t>Completed (Review 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Jayalakshmi T (RA2411031010115)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Proposed Model Development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Novel AST-CLAM architecture design, AEU-Attention module, Dual-Task Focal + Huber distance loss optimization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7AE60"/>
                          </a:solidFill>
                          <a:latin typeface="Arial"/>
                        </a:defRPr>
                      </a:pPr>
                      <a:r>
                        <a:t>Completed (Review 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Varsha U (RA2411031010120)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Visualization &amp;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Interactive Power BI spatial trajectory dashboard, hydrodynamic wind/current overlay, web UI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4A017"/>
                          </a:solidFill>
                          <a:latin typeface="Arial"/>
                        </a:defRPr>
                      </a:pPr>
                      <a:r>
                        <a:t>In Progress (PBL 3 Final)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76072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003366"/>
                </a:solidFill>
                <a:latin typeface="Arial"/>
              </a:defRPr>
            </a:pPr>
            <a:r>
              <a:t>ℹ Evaluator Directive: Review 2 focuses on Big Data preprocessing, novel deep learning architecture, and 5-model comparative benchmarking. Interactive visualization dashboard will be presented in PBL Review 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017"/>
                </a:solidFill>
                <a:latin typeface="Arial"/>
              </a:defRPr>
            </a:pPr>
            <a:r>
              <a:t>REFERENCES</a:t>
            </a:r>
          </a:p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10. Key References (Literature Benchmark)</a:t>
            </a:r>
          </a:p>
        </p:txBody>
      </p:sp>
      <p:pic>
        <p:nvPicPr>
          <p:cNvPr id="3" name="Picture 2" descr="srm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20040"/>
            <a:ext cx="1645920" cy="685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5912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00"/>
              </a:spcBef>
              <a:defRPr sz="900">
                <a:solidFill>
                  <a:srgbClr val="282828"/>
                </a:solidFill>
                <a:latin typeface="Arial"/>
              </a:defRPr>
            </a:pPr>
            <a:r>
              <a:t>[1] S. El Mohtar et al., 'Bayesian identification of oil spill source parameters from image contours,' Marine Pollution Bulletin, vol. 169, Art. no. 112514, 2021.</a:t>
            </a:r>
          </a:p>
          <a:p>
            <a:pPr>
              <a:spcBef>
                <a:spcPts val="300"/>
              </a:spcBef>
              <a:defRPr sz="900">
                <a:solidFill>
                  <a:srgbClr val="282828"/>
                </a:solidFill>
                <a:latin typeface="Arial"/>
              </a:defRPr>
            </a:pPr>
            <a:r>
              <a:t>[2] M. A. E. R. Hammoud et al., 'Moving source identification in an uncertain marine flow: Mediterranean Sea application,' Ocean Engineering, vol. 220, Art. no. 108435, 2021.</a:t>
            </a:r>
          </a:p>
          <a:p>
            <a:pPr>
              <a:spcBef>
                <a:spcPts val="300"/>
              </a:spcBef>
              <a:defRPr sz="900">
                <a:solidFill>
                  <a:srgbClr val="282828"/>
                </a:solidFill>
                <a:latin typeface="Arial"/>
              </a:defRPr>
            </a:pPr>
            <a:r>
              <a:t>[3] Y. Li et al., 'Oil spill detection with multiscale conditional adversarial networks with small-data training,' Remote Sensing, vol. 13, no. 12, Art. no. 2378, 2021.</a:t>
            </a:r>
          </a:p>
          <a:p>
            <a:pPr>
              <a:spcBef>
                <a:spcPts val="300"/>
              </a:spcBef>
              <a:defRPr sz="900">
                <a:solidFill>
                  <a:srgbClr val="282828"/>
                </a:solidFill>
                <a:latin typeface="Arial"/>
              </a:defRPr>
            </a:pPr>
            <a:r>
              <a:t>[4] Y. Chen and Z. Wang, 'Marine oil spill detection from SAR images based on Attention U-Net model using polarimetric and wind speed information,' IJERPH, vol. 19, no. 19, Art. no. 12315, 2022.</a:t>
            </a:r>
          </a:p>
          <a:p>
            <a:pPr>
              <a:spcBef>
                <a:spcPts val="300"/>
              </a:spcBef>
              <a:defRPr sz="900">
                <a:solidFill>
                  <a:srgbClr val="282828"/>
                </a:solidFill>
                <a:latin typeface="Arial"/>
              </a:defRPr>
            </a:pPr>
            <a:r>
              <a:t>[5] Y. Li et al., 'An adversarial learning approach to forecasted wind field correction with an application to oil spill drift prediction,' IJAEOG, vol. 112, Art. no. 102924, 2022.</a:t>
            </a:r>
          </a:p>
          <a:p>
            <a:pPr>
              <a:spcBef>
                <a:spcPts val="300"/>
              </a:spcBef>
              <a:defRPr sz="900">
                <a:solidFill>
                  <a:srgbClr val="282828"/>
                </a:solidFill>
                <a:latin typeface="Arial"/>
              </a:defRPr>
            </a:pPr>
            <a:r>
              <a:t>[6] A. S. Dhavalikar and P. C. Choudhari, 'Prediction of oil spill trajectory on the ocean surface using mathematical modeling,' IEEE JSTARS, vol. 15, 2022.</a:t>
            </a:r>
          </a:p>
          <a:p>
            <a:pPr>
              <a:spcBef>
                <a:spcPts val="300"/>
              </a:spcBef>
              <a:defRPr sz="900">
                <a:solidFill>
                  <a:srgbClr val="282828"/>
                </a:solidFill>
                <a:latin typeface="Arial"/>
              </a:defRPr>
            </a:pPr>
            <a:r>
              <a:t>[7] L. F. Tessarolo et al., 'A surface Lagrangian algorithm applied to the 2019 South Atlantic oil spill,' Ocean Engineering, vol. 268, Art. no. 113505, 2023.</a:t>
            </a:r>
          </a:p>
          <a:p>
            <a:pPr>
              <a:spcBef>
                <a:spcPts val="300"/>
              </a:spcBef>
              <a:defRPr sz="900">
                <a:solidFill>
                  <a:srgbClr val="282828"/>
                </a:solidFill>
                <a:latin typeface="Arial"/>
              </a:defRPr>
            </a:pPr>
            <a:r>
              <a:t>[8] F. Chen et al., 'DGNet: Distribution guided efficient learning for oil spill image segmentation,' IEEE TGRS, vol. 61, 2023.</a:t>
            </a:r>
          </a:p>
          <a:p>
            <a:pPr>
              <a:spcBef>
                <a:spcPts val="300"/>
              </a:spcBef>
              <a:defRPr sz="900">
                <a:solidFill>
                  <a:srgbClr val="282828"/>
                </a:solidFill>
                <a:latin typeface="Arial"/>
              </a:defRPr>
            </a:pPr>
            <a:r>
              <a:t>[9] C. Li et al., 'A self-evolving deep learning algorithm for automatic oil spill detection in Sentinel-1 SAR images,' Remote Sensing of Environment, vol. 299, Art. no. 113872, 2023.</a:t>
            </a:r>
          </a:p>
          <a:p>
            <a:pPr>
              <a:spcBef>
                <a:spcPts val="300"/>
              </a:spcBef>
              <a:defRPr sz="900">
                <a:solidFill>
                  <a:srgbClr val="282828"/>
                </a:solidFill>
                <a:latin typeface="Arial"/>
              </a:defRPr>
            </a:pPr>
            <a:r>
              <a:t>[10] P. Cervantes-Hernández et al., 'Combined use of SAR images and numerical simulations to identify source and trajectories of oil spills,' MPB, vol. 199, Art. no. 115981, 2024.</a:t>
            </a:r>
          </a:p>
          <a:p>
            <a:pPr>
              <a:spcBef>
                <a:spcPts val="300"/>
              </a:spcBef>
              <a:defRPr sz="900">
                <a:solidFill>
                  <a:srgbClr val="282828"/>
                </a:solidFill>
                <a:latin typeface="Arial"/>
              </a:defRPr>
            </a:pPr>
            <a:r>
              <a:t>[11] S. El Mohtar et al., 'Iterative data-driven construction of surrogates for efficient Bayesian identification of oil spill source parameters,' Computational Geosciences, 2024.</a:t>
            </a:r>
          </a:p>
          <a:p>
            <a:pPr>
              <a:spcBef>
                <a:spcPts val="300"/>
              </a:spcBef>
              <a:defRPr sz="900">
                <a:solidFill>
                  <a:srgbClr val="282828"/>
                </a:solidFill>
                <a:latin typeface="Arial"/>
              </a:defRPr>
            </a:pPr>
            <a:r>
              <a:t>[12] T. V. La et al., 'Monitoring of spatio-temporal variations of oil slicks via the collocation of multi-source satellite images,' Remote Sensing, vol. 16, no. 16, Art. no. 3110, 2024.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017"/>
                </a:solidFill>
                <a:latin typeface="Arial"/>
              </a:defRPr>
            </a:pPr>
            <a:r>
              <a:t>EVALUATION EVIDENCE</a:t>
            </a:r>
          </a:p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11. Geotagged Photo Verification</a:t>
            </a:r>
          </a:p>
        </p:txBody>
      </p:sp>
      <p:pic>
        <p:nvPicPr>
          <p:cNvPr id="3" name="Picture 2" descr="srm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20040"/>
            <a:ext cx="1645920" cy="685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11680" y="1645920"/>
            <a:ext cx="8165592" cy="4114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3366"/>
                </a:solidFill>
                <a:latin typeface="Arial"/>
              </a:defRPr>
            </a:pPr>
            <a:r>
              <a:t>📷 [Attach Geotagged Photo Taken During Review 2 Presentation]</a:t>
            </a:r>
          </a:p>
          <a:p>
            <a:br/>
            <a:br/>
            <a:pPr algn="ctr">
              <a:defRPr sz="1200">
                <a:solidFill>
                  <a:srgbClr val="282828"/>
                </a:solidFill>
                <a:latin typeface="Arial"/>
              </a:defRPr>
            </a:pPr>
            <a:r>
              <a:t>Instructions for Team:</a:t>
            </a:r>
            <a:br/>
            <a:r>
              <a:t>1. Capture presentation photo in classroom / lab using GPS/Geotag camera app.</a:t>
            </a:r>
            <a:br/>
            <a:r>
              <a:t>2. Ensure Latitude, Longitude, Date, and Timestamp are stamped on photo.</a:t>
            </a:r>
            <a:br/>
            <a:r>
              <a:t>3. Replace this placeholder container with your actual captured photo.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017"/>
                </a:solidFill>
                <a:latin typeface="Arial"/>
              </a:defRPr>
            </a:pPr>
            <a:r>
              <a:t>SOURCE CODE DELIVERABLES</a:t>
            </a:r>
          </a:p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12. Code Implementation &amp; Execution Links</a:t>
            </a:r>
          </a:p>
        </p:txBody>
      </p:sp>
      <p:pic>
        <p:nvPicPr>
          <p:cNvPr id="3" name="Picture 2" descr="srm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20040"/>
            <a:ext cx="1645920" cy="685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9445752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3366"/>
                </a:solidFill>
                <a:latin typeface="Arial"/>
              </a:defRPr>
            </a:pPr>
            <a:r>
              <a:t>🔗 Google Colab &amp; Repository Implementation Links</a:t>
            </a:r>
          </a:p>
          <a:p>
            <a:br/>
            <a:pPr>
              <a:spcBef>
                <a:spcPts val="8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Google Colab Pipeline Link: [Insert Google Colab Shared Link Here]</a:t>
            </a:r>
          </a:p>
          <a:p>
            <a:pPr>
              <a:spcBef>
                <a:spcPts val="8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Local Workspace Repository: C:\Users\Jayalakshmi\oil_spill\</a:t>
            </a:r>
          </a:p>
          <a:p>
            <a:pPr>
              <a:spcBef>
                <a:spcPts val="8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Data Preprocessing Pipeline: data_preprocessing.py</a:t>
            </a:r>
          </a:p>
          <a:p>
            <a:pPr>
              <a:spcBef>
                <a:spcPts val="8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Novel Deep Learning Architecture: model_architecture.py</a:t>
            </a:r>
          </a:p>
          <a:p>
            <a:pPr>
              <a:spcBef>
                <a:spcPts val="8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Benchmark Evaluation Engine: train_and_benchmark.py</a:t>
            </a:r>
          </a:p>
          <a:p>
            <a:pPr>
              <a:spcBef>
                <a:spcPts val="8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Generated Evaluation Deliverables: results\ (Metrics CSV, PNG charts, Markdown reports)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rm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0"/>
            <a:ext cx="2286000" cy="952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2560320"/>
            <a:ext cx="85313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t>THANK YOU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D4A017"/>
                </a:solidFill>
                <a:latin typeface="Arial"/>
              </a:defRPr>
            </a:pPr>
            <a:r>
              <a:t>Questions &amp;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