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65760"/>
            <a:ext cx="1920240" cy="800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1887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03366"/>
                </a:solidFill>
                <a:latin typeface="Arial"/>
              </a:defRPr>
            </a:pPr>
            <a:r>
              <a:t>AI-Based Adaptive Oil Spill Source Reconstruction Using Multi-Temporal Satellite Observations and Environmental Uncertainty</a:t>
            </a:r>
          </a:p>
          <a:p>
            <a:pPr>
              <a:spcBef>
                <a:spcPts val="800"/>
              </a:spcBef>
              <a:defRPr sz="1300" b="1">
                <a:solidFill>
                  <a:srgbClr val="0E4C92"/>
                </a:solidFill>
                <a:latin typeface="Arial"/>
              </a:defRPr>
            </a:pPr>
            <a:r>
              <a:t>BATCH 10 | 21CSC314P - Big Data Essentials | Project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UNDER THE GUIDANCE OF</a:t>
            </a:r>
          </a:p>
          <a:p>
            <a:pPr>
              <a:spcBef>
                <a:spcPts val="400"/>
              </a:spcBef>
              <a:defRPr sz="1500" b="1">
                <a:solidFill>
                  <a:srgbClr val="003366"/>
                </a:solidFill>
                <a:latin typeface="Arial"/>
              </a:defRPr>
            </a:pPr>
            <a:r>
              <a:t>Dr. BANU PRIYA PRATHABAN</a:t>
            </a:r>
          </a:p>
          <a:p>
            <a:pPr>
              <a:spcBef>
                <a:spcPts val="400"/>
              </a:spcBef>
              <a:defRPr sz="1100">
                <a:solidFill>
                  <a:srgbClr val="222222"/>
                </a:solidFill>
                <a:latin typeface="Arial"/>
              </a:defRPr>
            </a:pPr>
            <a:r>
              <a:t>Assistant Professor</a:t>
            </a:r>
            <a:br/>
            <a:r>
              <a:t>Department of Computer Science &amp; Engineering</a:t>
            </a:r>
            <a:br/>
            <a:r>
              <a:t>School of Computing, SRMIST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31089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TEAM MEMBERS</a:t>
            </a:r>
          </a:p>
          <a:p>
            <a:pPr>
              <a:spcBef>
                <a:spcPts val="400"/>
              </a:spcBef>
              <a:defRPr sz="1150">
                <a:solidFill>
                  <a:srgbClr val="222222"/>
                </a:solidFill>
                <a:latin typeface="Arial"/>
              </a:defRPr>
            </a:pPr>
            <a:r>
              <a:t>• JAYALAKSHMI T  (RA2411031010115)</a:t>
            </a:r>
          </a:p>
          <a:p>
            <a:pPr>
              <a:spcBef>
                <a:spcPts val="400"/>
              </a:spcBef>
              <a:defRPr sz="1150">
                <a:solidFill>
                  <a:srgbClr val="222222"/>
                </a:solidFill>
                <a:latin typeface="Arial"/>
              </a:defRPr>
            </a:pPr>
            <a:r>
              <a:t>• SACHIN P  (RA2411031010117)</a:t>
            </a:r>
          </a:p>
          <a:p>
            <a:pPr>
              <a:spcBef>
                <a:spcPts val="400"/>
              </a:spcBef>
              <a:defRPr sz="1150">
                <a:solidFill>
                  <a:srgbClr val="222222"/>
                </a:solidFill>
                <a:latin typeface="Arial"/>
              </a:defRPr>
            </a:pPr>
            <a:r>
              <a:t>• SHIVAANI M  (RA2411031010119)</a:t>
            </a:r>
          </a:p>
          <a:p>
            <a:pPr>
              <a:spcBef>
                <a:spcPts val="400"/>
              </a:spcBef>
              <a:defRPr sz="1150">
                <a:solidFill>
                  <a:srgbClr val="222222"/>
                </a:solidFill>
                <a:latin typeface="Arial"/>
              </a:defRPr>
            </a:pPr>
            <a:r>
              <a:t>• VARSHA U  (RA2411031010120)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Contents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Dataset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Proposed Model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Overall System Architecture Diagram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Preprocessing (Give information on Big Data Analysis and its steps)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Results of Preprocessing (Insert graphs and table)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Classification (Give information on your novel/proposed model/classifier)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Results of Classification using proposed model (Insert graphs and table)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Comparison with the existing classifier models (Insert graphs and table)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Plan of Action/Member Tasks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References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Attach Geotagged photo taken during Review 2 presentation</a:t>
            </a:r>
          </a:p>
          <a:p>
            <a:pPr>
              <a:spcBef>
                <a:spcPts val="800"/>
              </a:spcBef>
              <a:defRPr sz="1200">
                <a:solidFill>
                  <a:srgbClr val="222222"/>
                </a:solidFill>
                <a:latin typeface="Arial"/>
              </a:defRPr>
            </a:pPr>
            <a:r>
              <a:t>Attach Google Google Colab Implementation link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Dataset Profile &amp; Big Data Source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SANCHI MULTI-TEMPORAL REPOSITORY &amp; BIG DATA ARCHIVE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Source Repositories:   Sentinel-1 SAR (IW GRD), ERA5 (ECMWF), CMEMS (Copernicus Marine)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Domain Focus:   Multi-Temporal Satellite Observations for Marine Oil Spill Back-Reconstruction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Comprehensive Big Data Volume:   60,539,017 candidate grid cell rows across 5 whole-spill folds (2.39 GB Parquet)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Sample Training Table:   3,467,398 rows across 645 partitions (100% true positives + 5% hash-sampled negatives)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Real Disaster Case Event:   Sanchi Tanker Disaster (20,951 candidate cells, 2 slicks, 632 audited trajectory logs)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Core Physical Attributes:   Candidate Lat/Lon, Slick Distance, Bearing, Cloud Spread, Wind Speed/Dir, Ocean Currents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OBSERVATION TAXONOMY &amp; SPATIAL-TEMPORAL TARGETS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Candidate Source Positives (y=1):   Candidate cell &lt;= 10 km from true origin AND release time &lt;= 3 hours (Ground Truth Release)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Candidate Ocean Negatives (y=0):   Background non-source advection cells across the marine domain (Extreme 1:100 Imbalance)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DYNAMIC ENVIRONMENTAL FORCING PARAMETERS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ERA5 Atmospheric Reanalysis:   Hourly single-level 10m wind vector components (u10, v10) at 0.25° resolution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CMEMS Global Ocean Physics:   Daily surface current velocity components (u, v) at 0.083° resolution capturing mesoscale eddies</a:t>
            </a:r>
          </a:p>
          <a:p>
            <a:pPr>
              <a:spcBef>
                <a:spcPts val="2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Advective Drift Residuals:   Snapshot k observed slick center minus advected position (f_drift_err_east, f_drift_err_north)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Proposed Model: Adaptive Spatial-Temporal ConvLSTM (AST-CLAM)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Why Novel Adaptive Spatial-Temporal Architecture?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Conventional Lagrangian models (GNOME, OpenDrift) assume deterministic drift and fail under high sea turbulence.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Standard single-frame detection networks (MCAN, Attention U-Net) perform static segmentation without temporal back-prediction.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AST-CLAM integrates spatial convolution, temporal recurrent dynamics, and dynamic environmental attention in a unified framework.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Tri-Branch Feature Decoupling &amp; Alignment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Branch 1 (Spatial Geometry - 14 Dims): Embeds slick centroid distance, particle cloud dispersion, and elongation.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Branch 2 (Hydrodynamic Forcing - 10 Dims): Encodes ERA5 wind speed/direction, CMEMS currents, and 3% windage drift velocity.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Branch 3 (Drift Mismatch Residuals - 5 Dims): Isolates advective trajectory divergence vectors (f_drift_err_east, f_drift_err_north).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Adaptive Environmental Uncertainty Attention (AEU-Attn)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Computes dynamic attention between candidate trajectory states (Query) and environmental mismatch vectors (Key, Value).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When drift mismatch indicates severe forcing turbulence, AEU-Attn dynamically attenuates noisy advection vectors.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Amplifies multi-snapshot spatial consensus, ensuring sub-10 km centroid trajectory localization.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Dual-Task Optimization Benefits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Jointly optimizes Focal Cross-Entropy Loss (alpha=0.75, gamma=2.0) to eliminate background class imbalance.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Auxiliary continuous Euclidean distance Huber Loss forces latent embeddings to obey physical spatial topology.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Achieves 94.88% Accuracy, 0.7346 F1-Score, and drops Centroid Trajectory Error from 30+ km down to 6.86 km RMSE.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Overall System Architecture Diagram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pic>
        <p:nvPicPr>
          <p:cNvPr id="4" name="Picture 3" descr="system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10725912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Preprocessing (Big Data Analysis &amp; Pipeline Steps)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Step 1: Partitioned Big Data Log Ingestion</a:t>
            </a:r>
          </a:p>
          <a:p>
            <a:pPr>
              <a:spcBef>
                <a:spcPts val="100"/>
              </a:spcBef>
              <a:defRPr sz="950" b="1">
                <a:solidFill>
                  <a:srgbClr val="0E4C92"/>
                </a:solidFill>
                <a:latin typeface="Arial"/>
              </a:defRPr>
            </a:pPr>
            <a:r>
              <a:t>Mechanism: Apache PyArrow Distributed Dataset Engine</a:t>
            </a:r>
          </a:p>
          <a:p>
            <a:pPr>
              <a:spcBef>
                <a:spcPts val="200"/>
              </a:spcBef>
              <a:defRPr sz="900">
                <a:solidFill>
                  <a:srgbClr val="222222"/>
                </a:solidFill>
                <a:latin typeface="Arial"/>
              </a:defRPr>
            </a:pPr>
            <a:r>
              <a:t>Ingested multi-partition Hive Parquet tables across 5 whole-spill folds. Loaded Fold 0 (659,295 candidate rows) in 0.65 seconds without CPU memory bottleneck. Partitioning by whole spills prevents cross-spill data leakage.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Step 2: Schema Normalization &amp; Singularity Suppression</a:t>
            </a:r>
          </a:p>
          <a:p>
            <a:pPr>
              <a:spcBef>
                <a:spcPts val="100"/>
              </a:spcBef>
              <a:defRPr sz="950" b="1">
                <a:solidFill>
                  <a:srgbClr val="0E4C92"/>
                </a:solidFill>
                <a:latin typeface="Arial"/>
              </a:defRPr>
            </a:pPr>
            <a:r>
              <a:t>Mechanism: Vectorized Physical Range Clipping &amp; Time Alignment</a:t>
            </a:r>
          </a:p>
          <a:p>
            <a:pPr>
              <a:spcBef>
                <a:spcPts val="200"/>
              </a:spcBef>
              <a:defRPr sz="900">
                <a:solidFill>
                  <a:srgbClr val="222222"/>
                </a:solidFill>
                <a:latin typeface="Arial"/>
              </a:defRPr>
            </a:pPr>
            <a:r>
              <a:t>Synchronized UTC timestamps across satellite observation intervals and ERA5 hourly forcing. Resolved drift ratio division-by-zero singularities by bounding f_drift_ratio within [0.0, 10.0].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Step 3: Physical Grid Parameter Imputation</a:t>
            </a:r>
          </a:p>
          <a:p>
            <a:pPr>
              <a:spcBef>
                <a:spcPts val="100"/>
              </a:spcBef>
              <a:defRPr sz="950" b="1">
                <a:solidFill>
                  <a:srgbClr val="0E4C92"/>
                </a:solidFill>
                <a:latin typeface="Arial"/>
              </a:defRPr>
            </a:pPr>
            <a:r>
              <a:t>Mechanism: Domain-Specific Missing Value Handling (100% Resolved)</a:t>
            </a:r>
          </a:p>
          <a:p>
            <a:pPr>
              <a:spcBef>
                <a:spcPts val="200"/>
              </a:spcBef>
              <a:defRPr sz="900">
                <a:solidFill>
                  <a:srgbClr val="222222"/>
                </a:solidFill>
                <a:latin typeface="Arial"/>
              </a:defRPr>
            </a:pPr>
            <a:r>
              <a:t>• f_rank_in_hour (120,466 nulls): Missing when snapshot k has 0 particles in that grid cell. Physically imputed with 999.0 (unranked cell).</a:t>
            </a:r>
            <a:br/>
            <a:r>
              <a:t>• f_drift_err_east_km / north (132,577 nulls): Missing for k=1 (single snapshot). Imputed with 0.0 km mismatch and 1.0 nominal ratio.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Step 4: Adaptive Spatial-Temporal Thresholding &amp; Feature Assembly</a:t>
            </a:r>
          </a:p>
          <a:p>
            <a:pPr>
              <a:spcBef>
                <a:spcPts val="100"/>
              </a:spcBef>
              <a:defRPr sz="950" b="1">
                <a:solidFill>
                  <a:srgbClr val="0E4C92"/>
                </a:solidFill>
                <a:latin typeface="Arial"/>
              </a:defRPr>
            </a:pPr>
            <a:r>
              <a:t>Mechanism: Dynamic Otsu-Like Percentile Scoring &amp; Interaction Engineering</a:t>
            </a:r>
          </a:p>
          <a:p>
            <a:pPr>
              <a:spcBef>
                <a:spcPts val="200"/>
              </a:spcBef>
              <a:defRPr sz="900">
                <a:solidFill>
                  <a:srgbClr val="222222"/>
                </a:solidFill>
                <a:latin typeface="Arial"/>
              </a:defRPr>
            </a:pPr>
            <a:r>
              <a:t>Engineered 5 physical interaction features: total forcing velocity, multi-snapshot consensus ratio, and wind-slick bearing alignment. Applied dynamic 80th-percentile thresholding, filtering out 80% empty ocean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Results of Preprocessing (Feature &amp; Class Balance)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051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366"/>
                </a:solidFill>
                <a:latin typeface="Arial"/>
              </a:defRPr>
            </a:pPr>
            <a:r>
              <a:t>GROUND-TRUTH SPATIAL CANDIDATE TIER DISTRIBUTION</a:t>
            </a:r>
          </a:p>
          <a:p>
            <a:pPr>
              <a:spcBef>
                <a:spcPts val="100"/>
              </a:spcBef>
              <a:defRPr sz="900">
                <a:solidFill>
                  <a:srgbClr val="222222"/>
                </a:solidFill>
                <a:latin typeface="Arial"/>
              </a:defRPr>
            </a:pPr>
            <a:r>
              <a:t>• True Source Candidates (y=1): 13.9%:   91,561 cells within 10 km of true spill origin and 3h release period.</a:t>
            </a:r>
          </a:p>
          <a:p>
            <a:pPr>
              <a:spcBef>
                <a:spcPts val="100"/>
              </a:spcBef>
              <a:defRPr sz="900">
                <a:solidFill>
                  <a:srgbClr val="222222"/>
                </a:solidFill>
                <a:latin typeface="Arial"/>
              </a:defRPr>
            </a:pPr>
            <a:r>
              <a:t>• Background Ocean Cells (y=0): 86.1%:   567,734 background cells filtered out by adaptive spatial thresholding.</a:t>
            </a:r>
          </a:p>
        </p:txBody>
      </p:sp>
      <p:pic>
        <p:nvPicPr>
          <p:cNvPr id="5" name="Picture 4" descr="preprocessing_slide_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19"/>
            <a:ext cx="5852160" cy="301752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766560" y="1874519"/>
          <a:ext cx="4663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737360"/>
              </a:tblGrid>
              <a:tr h="43891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Preprocessing 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Observed Value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Records Processed (Fold 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659,295 cells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Ground Truth Positives (y=1)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91,561 (13.9%)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Candidate Negatives (y=0)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567,734 (86.1%)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Missing Grid Parameters Handled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518,197 cells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Missing f_rank_in_hour Imputed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120,466 (Rank 999.0)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Missing k=1 Drift Mismatch Imputed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132,577 (0.0km / 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Engineered Interaction Features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5 Features Added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Adaptive Threshold (80th Pct)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0.1448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End-to-End Ingestion Runtime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1.48 seconds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Classification (Novel / Proposed Classifier Engine)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MATHEMATICAL FORMULATION OF NOVEL AST-CLAM ENGINE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P_hat(y=1 | x) = sigma( ClassifierHead( AEU_Attn( Conv1D(x), BiLSTM(x), EnvContext ) ) )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Where x in R^29 represents the decoupled spatial, hydrodynamic, and drift mismatch feature vector.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AEU_Attn computes: Attn(Q, K, V) = Softmax( Q K^T / sqrt(d_k) ) * V * UncertaintyGate(EnvContext)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UncertaintyGate dynamically scales trajectory confidence based on drift mismatch norm ||e_drift||.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DUAL-TASK OBJECTIVE FUNCTION (FOCAL LOSS + DISTANCE REGULARIZATION)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Total Loss: L_total = L_Focal + lambda * L_Huber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Focal Classification Loss: L_Focal = -alpha * (1 - p_t)^gamma * log(p_t)  [alpha=0.75, gamma=2.0]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Smooth L1 Huber Loss: Regularizes the auxiliary centroid head to predict continuous Euclidean distance offset (km).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Prevents false positive hallucinations by penalizing predictions situated far from candidate contours.</a:t>
            </a:r>
          </a:p>
          <a:p>
            <a:pPr>
              <a:spcBef>
                <a:spcPts val="800"/>
              </a:spcBef>
              <a:defRPr sz="1100" b="1">
                <a:solidFill>
                  <a:srgbClr val="003366"/>
                </a:solidFill>
                <a:latin typeface="Arial"/>
              </a:defRPr>
            </a:pPr>
            <a:r>
              <a:t>OPTIMAL ARCHITECTURAL CONFIGURATION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Number of Input Features:   29 Dimensions (14 Spatial + 10 Environmental + 5 Drift Mismatches)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Conv1D Filter Kernels:   3 kernels with Batch Normalization &amp; GELU activations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Temporal LSTM Layers:   2 Bidirectional Layers with 64 hidden units per direction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Attention Mechanism:   4-Head Adaptive Environmental Uncertainty Attention (AEU-Attn)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Optimization Algorithm:   AdamW (lr=0.005, weight_decay=1e-4) with Cosine Annealing</a:t>
            </a:r>
          </a:p>
          <a:p>
            <a:pPr>
              <a:spcBef>
                <a:spcPts val="200"/>
              </a:spcBef>
              <a:defRPr sz="950">
                <a:solidFill>
                  <a:srgbClr val="222222"/>
                </a:solidFill>
                <a:latin typeface="Arial"/>
              </a:defRPr>
            </a:pPr>
            <a:r>
              <a:t>• Inference Latency:   Sub-second inference per whole-spill candidate grid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Results of Classification Using Proposed Model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pic>
        <p:nvPicPr>
          <p:cNvPr id="4" name="Picture 3" descr="classification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5120640" cy="49377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188720"/>
          <a:ext cx="52120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103120"/>
              </a:tblGrid>
              <a:tr h="3251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Proposed AST-CLAM Score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Overall Model Accuracy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94.88%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Weighted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0.8526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Weighted Recall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0.6453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Weighted F1-Score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0.7346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AUC-ROC Score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0.9870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Centroid Trajectory 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6.86 km (Target: &lt; 10 km)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Real Sanchi Wreck Hit Error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4.62 km (Verified 115m Wreck)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Relative Distance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84.1% vs Naive Slick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429768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3366"/>
                </a:solidFill>
                <a:latin typeface="Arial"/>
              </a:defRPr>
            </a:pPr>
            <a:r>
              <a:t>CRITICAL MODEL INFERENCE INSIGHTS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• High True Positive Concentration: Confusion matrix confirms clean separation of origin candidates with 94.88% accuracy.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• Sub-10km Localization Success: Centroid Trajectory RMSE dropped to 6.86 km, satisfying the operational evaluation criterion.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• Real Disaster Ground Truth Recovery: Successfully localized the real Sanchi wreck location to within 4.62 km (an 84.1% distance reduction over naive centroids).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Comparison with Existing Classifier Models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pic>
        <p:nvPicPr>
          <p:cNvPr id="4" name="Picture 3" descr="comparison_bar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10725912" cy="29260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4160520"/>
          <a:ext cx="6858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4400"/>
                <a:gridCol w="914400"/>
                <a:gridCol w="914400"/>
                <a:gridCol w="1097280"/>
                <a:gridCol w="1097280"/>
              </a:tblGrid>
              <a:tr h="3135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Acc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Prec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RMSE (km)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Sanchi Err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Deep MLP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88.65%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0.4729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0.3637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35.21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58.69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Attention U-Net (2022)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88.64%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0.4390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0.1948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29.86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37.48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Standard ConvLSTM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89.06%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0.5062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0.1949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30.79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50.97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XGBoost (GBDT)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89.26%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0.5254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0.3081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33.69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33.13 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89.53%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0.5268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0.4889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29.84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25.79 km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Proposed AST-CLAM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94.88%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0.8526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0.7346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6.86 km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4.62 km</a:t>
                      </a:r>
                    </a:p>
                  </a:txBody>
                  <a:tcPr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4160520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3366"/>
                </a:solidFill>
                <a:latin typeface="Arial"/>
              </a:defRPr>
            </a:pPr>
            <a:r>
              <a:t>COMPARATIVE BENCHMARK TAKEAWAYS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• +5.35% Accuracy vs Best Baseline: Reaches 94.88%, effectively suppressing noisy ocean background false positives.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• +0.2457 F1 Improvement: Outperforms Random Forest (0.4889) and XGBoost (0.3081) by dynamic multi-snapshot consensus.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• 4.3x Lower Trajectory Error: Drops Centroid RMSE from 29.84 km down to 6.86 km, meeting sub-10 km requirements.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• Decisive Sanchi Disaster Recovery: Hits 4.62 km to the true wreck, beating naive center (29.1 km) by 84.1%.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Plan of Action / Member Tasks &amp; Progress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5912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377440"/>
                <a:gridCol w="5879592"/>
                <a:gridCol w="1828800"/>
              </a:tblGrid>
              <a:tr h="98755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S.No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 Member &amp; Reg.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Assigned Technical Responsibilities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Review 2 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SACHIN P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(RA2411031010117)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Data Ingestion &amp; Distributed Preprocessing: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PyArrow Big Data extraction (60.5M rows across 5 folds)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Physical parameter imputation (Rank 999.0, Drift 1.0)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Adaptive spatial thresholding (80th percentile candidate mask)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SHIVAANI M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(RA2411031010119)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Literature Benchmarking &amp; Comparative Analysis: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Evaluation of 5 baseline models (RF, XGBoost, MLP, ConvLSTM, U-Net)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Strict whole-spill partitioned validation (zero data leakage)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Statistical comparative evaluation and metrics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JAYALAKSHMI T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(RA2411031010115)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Proposed Model Architecture &amp; Optimization: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Novel AST-CLAM deep learning model development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Adaptive Environmental Uncertainty Attention (AEU-Attn) design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Dual-Task Focal Loss + continuous distance Huber optimization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8B22"/>
                          </a:solidFill>
                          <a:latin typeface="Arial"/>
                        </a:defRPr>
                      </a:pPr>
                      <a:r>
                        <a:t>100% Completed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VARSHA U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(RA2411031010120)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Visualization Dashboard &amp; Review Compilation: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Power BI interactive spatial oil spill trajectory dashboard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Hydrodynamic wind and current velocity overlay mapping</a:t>
                      </a:r>
                    </a:p>
                    <a:p>
                      <a:pPr>
                        <a:defRPr sz="900" b="0">
                          <a:solidFill>
                            <a:srgbClr val="222222"/>
                          </a:solidFill>
                          <a:latin typeface="Arial"/>
                        </a:defRPr>
                      </a:pPr>
                      <a:r>
                        <a:t>• Review 2 PPT compilation &amp; PBL 3 Final Dashboard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60% (In Progress)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References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[1] S. El Mohtar, B. Ait-El-Fquih, O. Knio, I. Lakkis, and I. Hoteit, 'Bayesian identification of oil spill source parameters from image contours,' Marine Pollution Bulletin, vol. 169, Art. no. 112514, 2021.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[2] M. A. E. R. Hammoud, I. Lakkis, O. Knio, and I. Hoteit, 'Moving source identification in an uncertain marine flow: Mediterranean Sea application,' Ocean Engineering, vol. 220, Art. no. 108435, 2021.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[3] Y. Li, X. Lyu, A. C. Frery, and P. Ren, 'Oil spill detection with multiscale conditional adversarial networks with small-data training,' Remote Sensing, vol. 13, no. 12, Art. no. 2378, 2021.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[4] Y. Chen and Z. Wang, 'Marine oil spill detection from SAR images based on Attention U-Net model using polarimetric and wind speed information,' IJERPH, vol. 19, no. 19, Art. no. 12315, 2022.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[5] Y. Li, W. Huang, X. Lyu, S. Liu, Z. Zhao, and P. Ren, 'An adversarial learning approach to forecasted wind field correction with an application to oil spill drift prediction,' IJAEOG, vol. 112, Art. no. 102924, 2022.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[6] A. S. Dhavalikar and P. C. Choudhari, 'Prediction of oil spill trajectory on the ocean surface using mathematical modeling,' IEEE JSTARS, vol. 15, pp. 2482–2493, 2022.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[7] L. F. Tessarolo et al., 'A surface Lagrangian algorithm applied to the 2019 South Atlantic oil spill,' Ocean Engineering, vol. 268, Art. no. 113505, 2023.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[8] F. Chen, H. Balzter, F. Zhou, P. Ren, and H. Zhou, 'DGNet: Distribution guided efficient learning for oil spill image segmentation,' IEEE TGRS, vol. 61, pp. 1–14, 2023.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[9] C. Li et al., 'A self-evolving deep learning algorithm for automatic oil spill detection in Sentinel-1 SAR images,' Remote Sensing of Environment, vol. 299, Art. no. 113872, 2023.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[10] P. Cervantes-Hernández et al., 'Combined use of SAR images and numerical simulations to identify source and trajectories of oil spills,' Marine Pollution Bulletin, vol. 199, Art. no. 115981, 2024.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[11] S. El Mohtar, O. Le Maître, O. Knio, and I. Hoteit, 'Iterative data-driven construction of surrogates for an efficient Bayesian identification of oil spill source parameters,' Computational Geosciences, vol. 28, pp. 681–696, 2024.</a:t>
            </a:r>
          </a:p>
          <a:p>
            <a:pPr>
              <a:spcBef>
                <a:spcPts val="300"/>
              </a:spcBef>
              <a:defRPr sz="850">
                <a:solidFill>
                  <a:srgbClr val="222222"/>
                </a:solidFill>
                <a:latin typeface="Arial"/>
              </a:defRPr>
            </a:pPr>
            <a:r>
              <a:t>[12] T. V. La et al., 'Monitoring of spatio-temporal variations of oil slicks via collocation of multi-source satellite images,' Remote Sensing, vol. 16, no. 16, Art. no. 3110, 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Geotagged Photo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1680" y="1371600"/>
            <a:ext cx="8165592" cy="4846320"/>
          </a:xfrm>
          <a:prstGeom prst="rect">
            <a:avLst/>
          </a:prstGeom>
          <a:solidFill>
            <a:srgbClr val="F0F4F8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3366"/>
                </a:solidFill>
                <a:latin typeface="Arial"/>
              </a:defRPr>
            </a:pPr>
            <a:r>
              <a:t>📷</a:t>
            </a:r>
            <a:br/>
            <a:br/>
            <a:r>
              <a:t>Attach Geotagged Photo Taken During Review 2 Presentation</a:t>
            </a:r>
          </a:p>
          <a:p>
            <a:br/>
            <a:pPr algn="ctr">
              <a:defRPr sz="1100">
                <a:solidFill>
                  <a:srgbClr val="505050"/>
                </a:solidFill>
                <a:latin typeface="Arial"/>
              </a:defRPr>
            </a:pPr>
            <a:r>
              <a:t>[Insert photo taken in lab/classroom with visible GPS latitude, longitude, and timestamp stamp]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3366"/>
                </a:solidFill>
                <a:latin typeface="Arial"/>
              </a:defRPr>
            </a:pPr>
            <a:r>
              <a:t>GitHub Implementation Link</a:t>
            </a:r>
          </a:p>
        </p:txBody>
      </p:sp>
      <p:pic>
        <p:nvPicPr>
          <p:cNvPr id="3" name="Picture 2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76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3366"/>
                </a:solidFill>
                <a:latin typeface="Arial"/>
              </a:defRPr>
            </a:pPr>
            <a:r>
              <a:t>NOTEBOOK MODULE HIGHLIGHTS &amp; EXECUTION INSTRUCTIONS:</a:t>
            </a:r>
          </a:p>
          <a:p>
            <a:pPr>
              <a:spcBef>
                <a:spcPts val="6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Local Repository Mirror: Included in workspace as data_preprocessing.py, model_architecture.py, and train_and_benchmark.py.</a:t>
            </a:r>
          </a:p>
          <a:p>
            <a:pPr>
              <a:spcBef>
                <a:spcPts val="6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Distributed Pipeline Setup: Utilizes Apache PyArrow Parquet engine for high-throughput Hive partitioned reading (60.5M records).</a:t>
            </a:r>
          </a:p>
          <a:p>
            <a:pPr>
              <a:spcBef>
                <a:spcPts val="6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Automated Data Pipeline: Executes Section 1 through Section 5: Data Ingestion -&gt; Parameter Imputation -&gt; Adaptive Thresholding -&gt; AST-CLAM.</a:t>
            </a:r>
          </a:p>
          <a:p>
            <a:pPr>
              <a:spcBef>
                <a:spcPts val="6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Reproducible Artifacts: Exports preprocessing_metrics.csv, preprocessing_plots.png, and model_comparison_charts.png at 300 DPI.</a:t>
            </a:r>
          </a:p>
          <a:p>
            <a:pPr>
              <a:spcBef>
                <a:spcPts val="600"/>
              </a:spcBef>
              <a:defRPr sz="1000">
                <a:solidFill>
                  <a:srgbClr val="222222"/>
                </a:solidFill>
                <a:latin typeface="Arial"/>
              </a:defRPr>
            </a:pPr>
            <a:r>
              <a:t>• 6-Model Comparative Benchmarks: Evaluates all 6 algorithms on identical whole-spill splits, reporting Accuracy, Precision, Recall, F1, and Centroid RMSE.</a:t>
            </a:r>
          </a:p>
          <a:p>
            <a:br/>
            <a:pPr>
              <a:spcBef>
                <a:spcPts val="2000"/>
              </a:spcBef>
              <a:defRPr sz="1200" b="1">
                <a:solidFill>
                  <a:srgbClr val="003366"/>
                </a:solidFill>
                <a:latin typeface="Arial"/>
              </a:defRPr>
            </a:pPr>
            <a:r>
              <a:t>GitHub Implementation URL:               https://github.com/Jayalakshmi-TR/Oil-Spill-Source-Reconstruction.git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rm_log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011680"/>
            <a:ext cx="3566160" cy="1485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114800"/>
            <a:ext cx="85313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3366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